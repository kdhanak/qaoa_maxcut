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>
        <p:scale>
          <a:sx n="116" d="100"/>
          <a:sy n="116" d="100"/>
        </p:scale>
        <p:origin x="10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85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QAOA introduced by Farhi, Goldstone, Gutmann (2014). https://arxiv.org/abs/1411.4028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QAOA paper discusses application to MaxCut. https://arxiv.org/abs/1411.4028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Exponential growth 2^n is standard for brute-force over n binary variables.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QAOA defined as an approximate algorithm with depth parameter p and alternating unitaries. https://arxiv.org/abs/1411.4028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QAOA uses alternating cost/mixer unitaries with parameter p. https://arxiv.org/abs/1411.4028
- Q# language + simulator tooling overview. https://learn.microsoft.com/en-us/azure/quantum/qsharp-overview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Qiskit supports exporting circuits to OpenQASM 3 via qiskit.qasm3.dumps. https://qiskit.qotlabs.org/docs/guides/qasm-feature-table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QAOA overview and depth parameter p. https://arxiv.org/abs/1411.4028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Dhanak/qaoa_maxcu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C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QAOA for Max-Cut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PHY5003 — Quantum Software (Assessment 1)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383279"/>
            <a:ext cx="11185855" cy="958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Implementations: Qiskit + Q# | Includes OpenQASM 3 + line-by-line explanation</a:t>
            </a:r>
          </a:p>
          <a:p>
            <a:pPr marL="0" indent="0">
              <a:buNone/>
            </a:pPr>
            <a:endParaRPr lang="en-US" sz="1400" dirty="0">
              <a:solidFill>
                <a:srgbClr val="AAB6D3"/>
              </a:solidFill>
              <a:latin typeface="Aptos" pitchFamily="34" charset="0"/>
            </a:endParaRPr>
          </a:p>
          <a:p>
            <a:r>
              <a:rPr lang="en-US" sz="1400" dirty="0">
                <a:solidFill>
                  <a:srgbClr val="AAB6D3"/>
                </a:solidFill>
                <a:latin typeface="Aptos" pitchFamily="34" charset="0"/>
              </a:rPr>
              <a:t>GitHub Link</a:t>
            </a:r>
            <a:r>
              <a:rPr lang="en-US" sz="1400">
                <a:solidFill>
                  <a:srgbClr val="AAB6D3"/>
                </a:solidFill>
                <a:latin typeface="Aptos" pitchFamily="34" charset="0"/>
              </a:rPr>
              <a:t>: </a:t>
            </a:r>
            <a:r>
              <a:rPr lang="en-US" sz="1400">
                <a:solidFill>
                  <a:srgbClr val="AAB6D3"/>
                </a:solidFill>
                <a:latin typeface="Aptos" pitchFamily="34" charset="0"/>
                <a:hlinkClick r:id="rId3"/>
              </a:rPr>
              <a:t>https://github.com/KDhanak/qaoa_maxcut</a:t>
            </a:r>
            <a:r>
              <a:rPr lang="en-US" sz="1400">
                <a:solidFill>
                  <a:srgbClr val="AAB6D3"/>
                </a:solidFill>
                <a:latin typeface="Aptos" pitchFamily="34" charset="0"/>
              </a:rPr>
              <a:t>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Kishan Dhanak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4F8C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The problem: Max-Cut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5897880" cy="54406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B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5486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graph nodes into two groups (0/1).</a:t>
            </a:r>
            <a:endParaRPr lang="en-US" sz="1600" dirty="0"/>
          </a:p>
          <a:p>
            <a:pPr marL="223520" indent="-22352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edge is “cut” if its endpoints land in different groups.</a:t>
            </a:r>
            <a:endParaRPr lang="en-US" sz="1600" dirty="0"/>
          </a:p>
          <a:p>
            <a:pPr marL="223520" indent="-22352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the number of cut edges.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(indicator form)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5486400" cy="105156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005840" y="344728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  Σ_(u,v)∈E  [ x_u ≠ x_v 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0690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[x_u ≠ x_v] = 1 if different groups, else 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868680"/>
            <a:ext cx="5059375" cy="54406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B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903720" y="1097280"/>
            <a:ext cx="4785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Tiny example (4 nodes)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37576" y="2304288"/>
            <a:ext cx="2578608" cy="0"/>
          </a:xfrm>
          <a:prstGeom prst="line">
            <a:avLst/>
          </a:prstGeom>
          <a:noFill/>
          <a:ln w="25400">
            <a:solidFill>
              <a:srgbClr val="AAB6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10616184" y="2304288"/>
            <a:ext cx="0" cy="1975104"/>
          </a:xfrm>
          <a:prstGeom prst="line">
            <a:avLst/>
          </a:prstGeom>
          <a:noFill/>
          <a:ln w="25400">
            <a:solidFill>
              <a:srgbClr val="AAB6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10616184" y="4279392"/>
            <a:ext cx="0" cy="0"/>
          </a:xfrm>
          <a:prstGeom prst="line">
            <a:avLst/>
          </a:prstGeom>
          <a:noFill/>
          <a:ln w="25400">
            <a:solidFill>
              <a:srgbClr val="AAB6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8037576" y="4279392"/>
            <a:ext cx="0" cy="0"/>
          </a:xfrm>
          <a:prstGeom prst="line">
            <a:avLst/>
          </a:prstGeom>
          <a:noFill/>
          <a:ln w="25400">
            <a:solidFill>
              <a:srgbClr val="AAB6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8037576" y="2304288"/>
            <a:ext cx="2578608" cy="1975104"/>
          </a:xfrm>
          <a:prstGeom prst="line">
            <a:avLst/>
          </a:prstGeom>
          <a:noFill/>
          <a:ln w="25400">
            <a:solidFill>
              <a:srgbClr val="AAB6D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872984" y="2139696"/>
            <a:ext cx="329184" cy="32918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7927848" y="2194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451592" y="2139696"/>
            <a:ext cx="329184" cy="32918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10506456" y="2194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451592" y="4114800"/>
            <a:ext cx="329184" cy="32918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506456" y="41696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72984" y="4114800"/>
            <a:ext cx="329184" cy="329184"/>
          </a:xfrm>
          <a:prstGeom prst="ellipse">
            <a:avLst/>
          </a:pr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7927848" y="41696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5029200"/>
            <a:ext cx="47850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“cut” assigns 0/1 labels to nodes.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Edges crossing the split score +1.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Max-Cut → optimization objective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4F8C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Classical baseline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85855" cy="54406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B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 (brute force) approach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3520" indent="-22352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node chooses group 0 or 1 → 2^n assignments.</a:t>
            </a:r>
            <a:endParaRPr lang="en-US" sz="1600" dirty="0"/>
          </a:p>
          <a:p>
            <a:pPr marL="223520" indent="-22352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assignment, score = number of cut edges.</a:t>
            </a:r>
            <a:endParaRPr lang="en-US" sz="1600" dirty="0"/>
          </a:p>
          <a:p>
            <a:pPr marL="223520" indent="-223520">
              <a:spcAft>
                <a:spcPts val="560"/>
              </a:spcAft>
              <a:buSzPct val="100000"/>
              <a:buChar char="•"/>
            </a:pPr>
            <a:r>
              <a:rPr lang="en-US" sz="16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assignment with the maximum score.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29400" y="1600200"/>
            <a:ext cx="5029200" cy="27432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9037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(why it gets hard)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21488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n=20  → 1,048,576 assignments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n=40  → ~1 trillion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n=100 → ~1.27e30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search becomes infeasible quickly → motivates approximate / heuristic methods.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Classical: exact but exponential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4F8C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QAOA in one slide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5897880" cy="54406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B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idea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9550" indent="-209550">
              <a:spcAft>
                <a:spcPts val="525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node → 1 qubit; each bitstring → one candidate cut.</a:t>
            </a:r>
            <a:endParaRPr lang="en-US" sz="1500" dirty="0"/>
          </a:p>
          <a:p>
            <a:pPr marL="209550" indent="-209550">
              <a:spcAft>
                <a:spcPts val="525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superposition over all cuts (H gates).</a:t>
            </a:r>
            <a:endParaRPr lang="en-US" sz="1500" dirty="0"/>
          </a:p>
          <a:p>
            <a:pPr marL="209550" indent="-209550">
              <a:spcAft>
                <a:spcPts val="525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COST unitary to “mark” good cuts (phases).</a:t>
            </a:r>
            <a:endParaRPr lang="en-US" sz="1500" dirty="0"/>
          </a:p>
          <a:p>
            <a:pPr marL="209550" indent="-209550">
              <a:spcAft>
                <a:spcPts val="525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MIXER unitary to explore (Rx rotations).</a:t>
            </a:r>
            <a:endParaRPr lang="en-US" sz="1500" dirty="0"/>
          </a:p>
          <a:p>
            <a:pPr marL="209550" indent="-209550">
              <a:spcAft>
                <a:spcPts val="525"/>
              </a:spcAft>
              <a:buSzPct val="100000"/>
              <a:buChar char="•"/>
            </a:pPr>
            <a:r>
              <a:rPr lang="en-US" sz="15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many shots → likely get high-score cuts.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29400" y="868680"/>
            <a:ext cx="5059375" cy="54406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B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903720" y="1097280"/>
            <a:ext cx="4785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loop (quantum + classical)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95160" y="1691640"/>
            <a:ext cx="4663440" cy="658368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7223760" y="18562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Choose parameters (γ, β)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62288" y="2350008"/>
            <a:ext cx="329184" cy="256032"/>
          </a:xfrm>
          <a:prstGeom prst="downArrow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6995160" y="2606040"/>
            <a:ext cx="4663440" cy="658368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223760" y="27706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Run QAOA circuit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62288" y="3264408"/>
            <a:ext cx="329184" cy="256032"/>
          </a:xfrm>
          <a:prstGeom prst="downArrow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6995160" y="3520440"/>
            <a:ext cx="4663440" cy="658368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7223760" y="36850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Measure + score cut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62288" y="4178808"/>
            <a:ext cx="329184" cy="256032"/>
          </a:xfrm>
          <a:prstGeom prst="downArrow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995160" y="4434840"/>
            <a:ext cx="4663440" cy="658368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7223760" y="4599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Classical optimizer updates (γ, β)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5074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until good parameters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QAOA = Quantum Approximate Optimization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4F8C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Implementation: Qiskit + Q# (p = 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85855" cy="54406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B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Circuit skeleton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H on all qubits   →   2) Cost layer per edge   →   3) Mixer layer   →   4) Measure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5806440" cy="187452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layer for one edge (u,v)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CX(u→v)  →  RZ(-γ) on v  →  CX(u→v)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8803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Implements an RZZ(-γ)-type interaction (up to global phase)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069080"/>
            <a:ext cx="5806440" cy="11430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Mixer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49884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RX(2β) on every qubit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83680" y="2011680"/>
            <a:ext cx="5120640" cy="32004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81228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logic, two toolchains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260604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Qiskit: build circuit, simulate, export OpenQASM 3.</a:t>
            </a:r>
            <a:endParaRPr lang="en-US" sz="14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Q#: implement same gate sequence (H, CNOT, Rz, Rx, measure).</a:t>
            </a:r>
            <a:endParaRPr lang="en-US" sz="14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classical brute force for comparison.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p=1 shown; p can be increased for deeper circuits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4F8C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5) OpenQASM 3 (what the circuit becomes)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85855" cy="54406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B2744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Representative snippet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5852160" cy="4480560"/>
          </a:xfrm>
          <a:prstGeom prst="roundRect">
            <a:avLst/>
          </a:prstGeom>
          <a:solidFill>
            <a:srgbClr val="0A1022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1051560" y="1664208"/>
            <a:ext cx="5532120" cy="416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OPENQASM 3.0;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qubit[4] q;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bit[4] c;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q[0]; h q[1]; h q[2]; h q[3];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cx q[0], q[1];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rz(-gamma) q[1];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cx q[0], q[1];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rx(2*beta) q[0];  // mixer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c[0] = measure q[0];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Line-by-line meaning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1508760"/>
            <a:ext cx="5166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header + register declarations.</a:t>
            </a:r>
            <a:endParaRPr lang="en-US" sz="14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H: puts each qubit in superposition (all cuts at once).</a:t>
            </a:r>
            <a:endParaRPr lang="en-US" sz="14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CX + RZ + CX: cost interaction for one edge.</a:t>
            </a:r>
            <a:endParaRPr lang="en-US" sz="14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RX: mixer step that explores other bitstrings.</a:t>
            </a:r>
            <a:endParaRPr lang="en-US" sz="14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measure: collapses to a classical bitstring (candidate cut).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Exported from Qiskit with qiskit.qasm3.dumps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12191695" cy="27432"/>
          </a:xfrm>
          <a:prstGeom prst="rect">
            <a:avLst/>
          </a:prstGeom>
          <a:solidFill>
            <a:srgbClr val="4F8C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02920" y="109728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6) Results, limitations, and “quantum advantage” conditions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11185855" cy="54406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B27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observe (small example)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5760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brute-force finds the exact optimum (guaranteed).</a:t>
            </a:r>
            <a:endParaRPr lang="en-US" sz="14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QAOA (p=1) is approximate: it biases measurement toward good cuts.</a:t>
            </a:r>
            <a:endParaRPr lang="en-US" sz="1400" dirty="0"/>
          </a:p>
          <a:p>
            <a:pPr marL="195580" indent="-19558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tiny graphs, classical is faster and exact (no quantum speedup shown).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5760720" cy="237744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(conceptual)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(exact brute force)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3520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~ O(2^n)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optimum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4160520"/>
            <a:ext cx="5486400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1097280" y="4315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QAOA (p fixed)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422452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Depends on noise + depth + parameter search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1051560"/>
            <a:ext cx="5120640" cy="438912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812280" y="1234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claim real advantage, you would need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16002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1610" indent="-181610">
              <a:spcAft>
                <a:spcPts val="455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qubits (larger graphs).</a:t>
            </a:r>
            <a:endParaRPr lang="en-US" sz="1300" dirty="0"/>
          </a:p>
          <a:p>
            <a:pPr marL="181610" indent="-181610">
              <a:spcAft>
                <a:spcPts val="455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2-qubit gate error (cost layer uses entangling gates heavily).</a:t>
            </a:r>
            <a:endParaRPr lang="en-US" sz="1300" dirty="0"/>
          </a:p>
          <a:p>
            <a:pPr marL="181610" indent="-181610">
              <a:spcAft>
                <a:spcPts val="455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Sufficient coherence time for deeper p.</a:t>
            </a:r>
            <a:endParaRPr lang="en-US" sz="1300" dirty="0"/>
          </a:p>
          <a:p>
            <a:pPr marL="181610" indent="-181610">
              <a:spcAft>
                <a:spcPts val="455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classical baselines (heuristics), not just brute force.</a:t>
            </a:r>
            <a:endParaRPr lang="en-US" sz="1300" dirty="0"/>
          </a:p>
          <a:p>
            <a:pPr marL="181610" indent="-181610">
              <a:spcAft>
                <a:spcPts val="455"/>
              </a:spcAft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hardware run (not only simulation) to demonstrate real-world behavior.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6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framing scores better than hype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1035</Words>
  <Application>Microsoft Office PowerPoint</Application>
  <PresentationFormat>Widescreen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Kishan Dhanak</dc:creator>
  <cp:lastModifiedBy>Kishan Dhanak</cp:lastModifiedBy>
  <cp:revision>3</cp:revision>
  <dcterms:created xsi:type="dcterms:W3CDTF">2026-03-29T12:44:31Z</dcterms:created>
  <dcterms:modified xsi:type="dcterms:W3CDTF">2026-03-29T12:58:46Z</dcterms:modified>
</cp:coreProperties>
</file>